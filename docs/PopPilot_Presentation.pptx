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generale de la plateforme PopPilot : ce qu'elle remplace, ce qu'elle couvre, ce qu'elle garantit, et ce qu'elle ne fait pas encore.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le probleme n'est pas Excel, c'est la multiplicite des sources de verite.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decision d'architecture dont tout le reste decoule.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domaine dispose du meme contrat : un ecran, un export Excel, ses propres controles.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diapositive est volontairement explicite. Elle appelle des arbitrages, pas des excuses.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la propriete qui resume tout : la tracabilite du chiffre jusqu'a sa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1B5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663440"/>
            <a:ext cx="2011680" cy="2011680"/>
          </a:xfrm>
          <a:prstGeom prst="ellipse">
            <a:avLst/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2057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POPPILOT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pilotage MICROPOP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socle de donnees unique. Des rapports qui en sont des vues.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generale  ·  DAF  ·  Controle de gestion  ·  Audit interne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POINT DE DEPART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pilotage repose sur une constellation de fichiers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organisation fonctionne. Elle a trois defauts qui deviennent couteux a mesure que l'institution grandit.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255264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468880"/>
            <a:ext cx="420624" cy="420624"/>
          </a:xfrm>
          <a:prstGeom prst="ellipse">
            <a:avLst/>
          </a:prstGeom>
          <a:solidFill>
            <a:srgbClr val="00AE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01752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coherence n'est pas garantie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675888"/>
            <a:ext cx="2706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L'encours du tableau de bord, celui du bilan et celui de la declaration BCC sont calcules separement. Rien n'impose qu'ils coincident.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96512" y="2194560"/>
            <a:ext cx="3255264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2468880"/>
            <a:ext cx="420624" cy="420624"/>
          </a:xfrm>
          <a:prstGeom prst="ellipse">
            <a:avLst/>
          </a:prstGeom>
          <a:solidFill>
            <a:srgbClr val="00AE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70832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370832" y="301752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L'historique se perd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70832" y="3675888"/>
            <a:ext cx="2706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classeur est ecrase a chaque arrete. Comparer deux mois suppose de retrouver deux fichiers, et de faire confiance a leurs noms.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26096" y="2194560"/>
            <a:ext cx="3255264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00416" y="2468880"/>
            <a:ext cx="420624" cy="420624"/>
          </a:xfrm>
          <a:prstGeom prst="ellipse">
            <a:avLst/>
          </a:prstGeom>
          <a:solidFill>
            <a:srgbClr val="00AE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00416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900416" y="301752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connaissance est dans les tetes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900416" y="3675888"/>
            <a:ext cx="2706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regles de gestion vivent dans des formules imbriquees que seul leur auteur relit.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257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PopPilot ne remplace pas les fichiers un a un : il remplace leur source.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754880"/>
            <a:ext cx="3108960" cy="3108960"/>
          </a:xfrm>
          <a:prstGeom prst="ellipse">
            <a:avLst/>
          </a:prstGeom>
          <a:solidFill>
            <a:srgbClr val="1B5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1371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PRINCIPE FONDATEUR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828800"/>
            <a:ext cx="9418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Stocker des faits dates,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jamais un indicateur calcule.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794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8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pret, un solde, une ligne de balance sont des FAITS : ils ne changent pas. Un PAR 30, un ROE, un taux de realisation sont des LECTURES de ces faits : ils se recalculent a la demande.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754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un indicateur, c'est figer une definition — et le jour ou la definition evolue, l'historique devient incoherent sans que personne ne s'en apercoive.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DOCTRINE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regles qui ne se negocient pas au cas par cas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255264" cy="1664208"/>
          </a:xfrm>
          <a:prstGeom prst="roundRect">
            <a:avLst>
              <a:gd name="adj" fmla="val 439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110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Faits dates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441448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un indicateur stocke.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96512" y="1691640"/>
            <a:ext cx="3255264" cy="1664208"/>
          </a:xfrm>
          <a:prstGeom prst="roundRect">
            <a:avLst>
              <a:gd name="adj" fmla="val 439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929384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34256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09744" y="19110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dates distinctes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334256" y="2441448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d'import ≠ date d'arrete. C'est l'arrete qui fait foi.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26096" y="1691640"/>
            <a:ext cx="3255264" cy="1664208"/>
          </a:xfrm>
          <a:prstGeom prst="roundRect">
            <a:avLst>
              <a:gd name="adj" fmla="val 439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0" y="1929384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19110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Devise d'origine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441448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conversion derive d'un taux date, jamais fige.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593592"/>
            <a:ext cx="3255264" cy="1664208"/>
          </a:xfrm>
          <a:prstGeom prst="roundRect">
            <a:avLst>
              <a:gd name="adj" fmla="val 439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831336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813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Parametres versionnes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34340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 d'effet : un changement ne reecrit pas le passe.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96512" y="3593592"/>
            <a:ext cx="3255264" cy="1664208"/>
          </a:xfrm>
          <a:prstGeom prst="roundRect">
            <a:avLst>
              <a:gd name="adj" fmla="val 439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34256" y="3831336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34256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09744" y="3813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stocker que le brut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334256" y="434340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derivations se recalculent.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626096" y="3593592"/>
            <a:ext cx="3255264" cy="1664208"/>
          </a:xfrm>
          <a:prstGeom prst="roundRect">
            <a:avLst>
              <a:gd name="adj" fmla="val 439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63840" y="3831336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6384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3813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encours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863840" y="434340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une fois : l'invariant qui rend les rapports coherents.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669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Chacune ferme une porte par laquelle un chiffre faux pourrait sortir sans etre vu.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couches, une responsabilite chacune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7772400" cy="786384"/>
          </a:xfrm>
          <a:prstGeom prst="roundRect">
            <a:avLst>
              <a:gd name="adj" fmla="val 6977"/>
            </a:avLst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09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391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Affiche, filtre, met en forme. Ne calcule rien.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1847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560320"/>
            <a:ext cx="7772400" cy="786384"/>
          </a:xfrm>
          <a:prstGeom prst="roundRect">
            <a:avLst>
              <a:gd name="adj" fmla="val 6977"/>
            </a:avLst>
          </a:prstGeom>
          <a:solidFill>
            <a:srgbClr val="1B5E8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41248" y="2642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9718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les moteurs, applique le cloisonnement, verifie l'identite.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27797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7772400" cy="786384"/>
          </a:xfrm>
          <a:prstGeom prst="roundRect">
            <a:avLst>
              <a:gd name="adj" fmla="val 6977"/>
            </a:avLst>
          </a:prstGeom>
          <a:solidFill>
            <a:srgbClr val="0B3D5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" y="35753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Moteurs de calcul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90448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Produisent tous les indicateurs. Seul endroit ou un calcul existe.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3712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425696"/>
            <a:ext cx="7772400" cy="786384"/>
          </a:xfrm>
          <a:prstGeom prst="roundRect">
            <a:avLst>
              <a:gd name="adj" fmla="val 6977"/>
            </a:avLst>
          </a:prstGeom>
          <a:solidFill>
            <a:srgbClr val="3E5A6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" y="4507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Socle de donnees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371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tables de faits dates et historises.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46451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Supabase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486400"/>
            <a:ext cx="11027664" cy="841248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1248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l'interface ne calcule rien : 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813048" y="5669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chiffre affiche et le meme chiffre exporte ne peuvent pas diverger — ils sortent du meme moteur.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PERIMETRE FONCTIONNEL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domaines, un ecran et un export chacun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310896" cy="310896"/>
          </a:xfrm>
          <a:prstGeom prst="ellipse">
            <a:avLst/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35000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CBS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5234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domaines d'import, idempotents et journalises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6916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93592" y="1929384"/>
            <a:ext cx="310896" cy="310896"/>
          </a:xfrm>
          <a:prstGeom prst="ellipse">
            <a:avLst/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3592" y="235000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75234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1/30/90, provisions, cout du risque, decaissements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4768" y="16916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82512" y="1929384"/>
            <a:ext cx="310896" cy="310896"/>
          </a:xfrm>
          <a:prstGeom prst="ellipse">
            <a:avLst/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35000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Comptabilite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75234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resultat au referentiel BCC integral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33688" y="16916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71432" y="1929384"/>
            <a:ext cx="310896" cy="310896"/>
          </a:xfrm>
          <a:prstGeom prst="ellipse">
            <a:avLst/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71432" y="235000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71432" y="275234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ratios prudentiels, avec norme et verdict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749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986784"/>
            <a:ext cx="310896" cy="310896"/>
          </a:xfrm>
          <a:prstGeom prst="ellipse">
            <a:avLst/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40740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Epargne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80974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Encours, ventilation par type et par devise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55848" y="3749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93592" y="3986784"/>
            <a:ext cx="310896" cy="310896"/>
          </a:xfrm>
          <a:prstGeom prst="ellipse">
            <a:avLst/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93592" y="440740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593592" y="480974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volets, 3 lectures, sans retraitement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44768" y="3749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82512" y="3986784"/>
            <a:ext cx="310896" cy="310896"/>
          </a:xfrm>
          <a:prstGeom prst="ellipse">
            <a:avLst/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82512" y="440740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Rapports BCC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82512" y="480974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FINA, AML / LBC-FT, systeme de paiement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33688" y="3749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71432" y="3986784"/>
            <a:ext cx="310896" cy="310896"/>
          </a:xfrm>
          <a:prstGeom prst="ellipse">
            <a:avLst/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71432" y="440740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171432" y="480974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Taux, provisions DAF, reintegrations, agences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1 — VALIDE A ECART NUL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6400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 a risque : PAR 1, PAR 30 et PAR 90, au niveau institution et par agence.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: bareme reglementaire, complete des provisions manuelles validees par la DAF.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du risque : differentiel calcule PRET PAR PRET, et non sur les totaux bruts.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Decaissements sur un intervalle de dates quelconque — mois, quinzaine, semaine, jour.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3977640"/>
            <a:ext cx="640080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416052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 1 au premier plan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45079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 30 est la norme reglementaire ; le PAR 1 est le vrai risque global. Il est affiche a egalite, non relegue.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269480" y="1691640"/>
            <a:ext cx="4325112" cy="3611880"/>
          </a:xfrm>
          <a:prstGeom prst="roundRect">
            <a:avLst>
              <a:gd name="adj" fmla="val 2025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543800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 CONTRE LES FICHIERS EXISTANTS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377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Ecart nul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46404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aux quatre niveaux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30906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938 244,42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464040" y="3136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— identique au fichier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38039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1 119,37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464040" y="38496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du risque, prêt par prêt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45171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517 prets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464040" y="45628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decaissements sur intervalle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Comptabilite et indicateurs prudentiels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bilan et le compte de resultat sont publies dans le format INTEGRAL du referentiel de la Banque centrale.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48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8254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a l'actif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55848" y="2148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3355848" y="28254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au passif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44768" y="2148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144768" y="28254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au compte de resultat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33688" y="2148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933688" y="28254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prudentiels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4160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a zero est publiee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535424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L'absence d'une ligne attendue par la BCC est une anomalie de declaration, pas une economie de place. Chaque ligne s'ouvre sur les comptes qui la composent.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19672" y="4160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Fonds propres : deux versions, un seul pilote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4535424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version HORS RESULTAT pilote tous les ratios — lecture reglementaire stricte. La version avec resultat affecte est informative et n'entre dans aucun ratio.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Epargne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6035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Encours, ventilation par type de depot et par devise, nombre d'epargnants.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des produits selon la regle arretee par le controle de gestion.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depots a vue alimentent le ratio de liquidite immediate : c'est le chiffre qui relie l'epargne aux indicateurs prudentiels.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5661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169 799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2428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traites en une quinzaine de secondes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75888" y="35661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67 147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675888" y="42428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epargnants — reference FINA : 67 120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1691640"/>
            <a:ext cx="4553712" cy="4114800"/>
          </a:xfrm>
          <a:prstGeom prst="roundRect">
            <a:avLst>
              <a:gd name="adj" fmla="val 1778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UNITES QUI NE SE MELANGENT JAMAIS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5146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8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montants par devise restent dans leur devise d'emission et ne s'additionnent pas entre eux : additionner des francs congolais a des dollars produirait un nombre qui ne designe rien.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39319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colonne de contre-valeur en dollars, convertie au taux de l'arrete, les rend comparables. C'est elle, et elle seule, qui se totalise.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5029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A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total converti est confronte a l'encours du moteur : deux chemins pour le meme nombre.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: deux volets stricts, trois lectures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et produits font l'objet de deux suivis distincts. Un total qui les melangerait ne designerait rien.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255264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31720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Mensuelle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98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au Budget du mois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272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mois-ci, a-t-on depense ou encaisse ce qui etait prevu 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96512" y="2103120"/>
            <a:ext cx="3255264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52544" y="2331720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52544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annuelle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52544" y="2798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au Budget annuel total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52544" y="31272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janvier, quelle part du budget de l'annee est consommee 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26096" y="2103120"/>
            <a:ext cx="3255264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882128" y="2331720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8212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Realisation a date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82128" y="2798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au Budget des mois ecoules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82128" y="31272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 stade de l'annee, est-on en avance ou en retard 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4343400"/>
            <a:ext cx="11027664" cy="1572768"/>
          </a:xfrm>
          <a:prstGeom prst="roundRect">
            <a:avLst>
              <a:gd name="adj" fmla="val 4651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59536" y="45262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le realise mensuel est fragile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balance arrive en cumule depuis janvier : le realise d'un mois est une DIFFERENCE de deux cumuls. Si la balance du mois precedent manque, cette difference vaut plusieurs mois et s'affiche face a un budget d'un seul — un taux de realisation a 700 %, sans qu'aucune erreur ne soit levee. La plateforme detecte ce cas et desactive la lecture mensuelle.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Rapports reglementaires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38528"/>
            <a:ext cx="310896" cy="310896"/>
          </a:xfrm>
          <a:prstGeom prst="ellipse">
            <a:avLst/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163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gabarit officiel de la BCC, rempli en francs congolais : F0, F1, F2, F3, F5, F6, F7, F10, F11.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0416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1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F4a, F4b, F8, F9 et F12 ne sont jamais touchees.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6916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938528"/>
            <a:ext cx="310896" cy="310896"/>
          </a:xfrm>
          <a:prstGeom prst="ellipse">
            <a:avLst/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/ LBC-FT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8163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declaration anti-blanchiment : operations especes par seuil, transferts, portefeuille client, localisation.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40416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1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copie de travail est detruite apres generation.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6916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1938528"/>
            <a:ext cx="310896" cy="310896"/>
          </a:xfrm>
          <a:prstGeom prst="ellipse">
            <a:avLst/>
          </a:prstGeom>
          <a:solidFill>
            <a:srgbClr val="B26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9328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 de paiement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8163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actifs et dormants, transactions par devise separee, sans conversion.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40416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Classeur de RESULTATS : le gabarit officiel n'est pas rempli.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983480"/>
            <a:ext cx="11027664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9536" y="5138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taux de change ne se devine pas.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910328" y="51389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taux saisi pour la periode, la generation echoue. Ces documents partent a la Banque centrale : un rapport converti au mauvais taux en a l'apparence exacte.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DOMAINES 6 ET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Alimenter et parametrer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des extractions du CBS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48840"/>
            <a:ext cx="5120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 : ré-importer un arrete remplace au lieu de dupliquer, et le dit.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explicite : un mauvais fichier est refuse avec ce qui etait attendu.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nominatif : qui, quoi, quand, combien de lignes.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ne se calcule pas et doit etre saisi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148840"/>
            <a:ext cx="5120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change officiel, versionne a date d'effet.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speciale des agences fermees — decision DAF, tracee et horodatee.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reintegrations fiscales.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budgetaire compte → ligne.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des agences : ouvrir, fermer, suspendre, rouvrir.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526280"/>
            <a:ext cx="11027664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59536" y="47091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provision de Goma n'est pas calculee par l'outil.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50749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prelevement decide par les comptables avec l'accord du DAF. La plateforme l'ENREGISTRE, tracee et horodatee. Le montant saisi remplace le bareme automatique pour l'agence : pas de double comptage.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SECURITE ET CLOISONNEMENT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roles, trois verrous independants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5943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15544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Perimetre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Ecriture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 entiere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de gestion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 entiere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 entiere, en lecture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N'alimente pas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seule agence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N'alimente pas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160520"/>
            <a:ext cx="5943600" cy="164592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41248" y="43708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L'audit lit tout, mais n'alimente rien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473659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controleur ne remplit pas ce qu'il controle. Il peut generer une declaration pour la verifier — cela ne modifie rien.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0" y="1737360"/>
            <a:ext cx="4736592" cy="1207008"/>
          </a:xfrm>
          <a:prstGeom prst="roundRect">
            <a:avLst>
              <a:gd name="adj" fmla="val 6061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14032" y="1956816"/>
            <a:ext cx="347472" cy="347472"/>
          </a:xfrm>
          <a:prstGeom prst="ellipse">
            <a:avLst/>
          </a:prstGeom>
          <a:solidFill>
            <a:srgbClr val="00AEE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14032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571232" y="1956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donnees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114032" y="23591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8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regles de securite PostgreSQL filtrent les acces directs.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0" y="3127248"/>
            <a:ext cx="4736592" cy="1207008"/>
          </a:xfrm>
          <a:prstGeom prst="roundRect">
            <a:avLst>
              <a:gd name="adj" fmla="val 6061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14032" y="3346704"/>
            <a:ext cx="347472" cy="347472"/>
          </a:xfrm>
          <a:prstGeom prst="ellipse">
            <a:avLst/>
          </a:prstGeom>
          <a:solidFill>
            <a:srgbClr val="00AEE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14032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571232" y="33467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114032" y="3749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8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applicatif par agence — l'API se connecte avec un compte technique.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0" y="4517136"/>
            <a:ext cx="4736592" cy="1207008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114032" y="4736592"/>
            <a:ext cx="347472" cy="347472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114032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571232" y="4736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7114032" y="5138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reclame pas ce que l'utilisateur n'a pas le droit de voir.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0" y="5943600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interface ne securise jamais une donnee : le troisieme verrou evite seulement qu'un ecran demande ce qui serait refuse.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85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PREUVE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Valide » veut dire ecart nul.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« dans la tolerance ». Pas « a peu pres ».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2542032" cy="1691640"/>
          </a:xfrm>
          <a:prstGeom prst="roundRect">
            <a:avLst>
              <a:gd name="adj" fmla="val 3784"/>
            </a:avLst>
          </a:prstGeom>
          <a:solidFill>
            <a:srgbClr val="1B5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334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8C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aux quatre niveaux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Ecart nul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5848" y="2103120"/>
            <a:ext cx="2542032" cy="1691640"/>
          </a:xfrm>
          <a:prstGeom prst="roundRect">
            <a:avLst>
              <a:gd name="adj" fmla="val 3784"/>
            </a:avLst>
          </a:prstGeom>
          <a:solidFill>
            <a:srgbClr val="1B5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5304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Comptabilite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75304" y="26334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8C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compte de resultat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575304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Ecart nul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44768" y="2103120"/>
            <a:ext cx="2542032" cy="1691640"/>
          </a:xfrm>
          <a:prstGeom prst="roundRect">
            <a:avLst>
              <a:gd name="adj" fmla="val 3784"/>
            </a:avLst>
          </a:prstGeom>
          <a:solidFill>
            <a:srgbClr val="1B5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64224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Referentiel BCC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26334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8C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lignes, sous-totaux compris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 a ligne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33688" y="2103120"/>
            <a:ext cx="2542032" cy="1691640"/>
          </a:xfrm>
          <a:prstGeom prst="roundRect">
            <a:avLst>
              <a:gd name="adj" fmla="val 3784"/>
            </a:avLst>
          </a:prstGeom>
          <a:solidFill>
            <a:srgbClr val="1B5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53144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53144" y="26334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8C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en francs congolais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153144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franc pres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069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chemins pour le meme nombre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526280"/>
            <a:ext cx="10424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4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X-1 : l'encours issu des prets et celui issu de la balance doivent coincider au centime. Deux systemes, deux chaines de traitement — leur egalite prouve qu'ils decrivent la meme realite.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4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contre agregat : le bilan detaille et le bilan resume doivent donner le meme total. Un ecart nomme le compte fautif.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4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Treize suites de tests. Le verdict distingue valide, partiel, non valide et en echec — un test saute n'est jamais un succes.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CONNUES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savons ne pas encore savoir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de pilotage dont on ignore les limites est plus dangereux qu'un outil limite dont on les connait.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detectees dans les donnees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60320"/>
            <a:ext cx="5120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d'avril 2026 desequilibree de 19 959,48 — le bilan de cet arrete ne boucle pas.</a:t>
            </a:r>
            <a:endParaRPr lang="en-US" sz="12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lignes du mapping budgetaire incompletes : les comptes concernes ne sont rattaches a rien.</a:t>
            </a:r>
            <a:endParaRPr lang="en-US" sz="12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totaux importees comme lignes budgetaires — ecartees des totaux, mais a nettoyer.</a:t>
            </a:r>
            <a:endParaRPr lang="en-US" sz="12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depot non encore charge en production.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fonctionnelles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560320"/>
            <a:ext cx="5120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 de reference : le ratio emprunteurs/agent utilise le fichier objectifs (39) et non l'effectif RH (29).</a:t>
            </a:r>
            <a:endParaRPr lang="en-US" sz="12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des emplois a moyen et long terme : non calculee, faute de distinction dans les sources.</a:t>
            </a:r>
            <a:endParaRPr lang="en-US" sz="12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Impot sur le benefice : tant que la grille de reintegrations est incomplete, le resultat du 31/12 est un resultat AVANT impot.</a:t>
            </a:r>
            <a:endParaRPr lang="en-US" sz="12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 de paiement : les chiffres sont produits, le gabarit officiel n'est pas rempli.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D'EVOLUTION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horizons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5740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0574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terme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97480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 sur un hebergement accessible</a:t>
            </a:r>
            <a:endParaRPr lang="en-US" sz="1200" dirty="0"/>
          </a:p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des intrants : reintegrations, effectif RH, mapping</a:t>
            </a:r>
            <a:endParaRPr lang="en-US" sz="1200" dirty="0"/>
          </a:p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du grand livre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5968" y="178308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0288" y="205740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1B5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0288" y="20574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 terme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697480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Elaboration budgetaire : construire les previsions, pas seulement suivre</a:t>
            </a:r>
            <a:endParaRPr lang="en-US" sz="1200" dirty="0"/>
          </a:p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de cloture annuelle : stock de provisions, radiations, impot</a:t>
            </a:r>
            <a:endParaRPr lang="en-US" sz="1200" dirty="0"/>
          </a:p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Comparaisons multi-periodes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5008" y="178308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4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39328" y="205740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9328" y="20574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697480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de la performance des agents</a:t>
            </a:r>
            <a:endParaRPr lang="en-US" sz="1200" dirty="0"/>
          </a:p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remuneration : bareme de primes et correcteur PAR</a:t>
            </a:r>
            <a:endParaRPr lang="en-US" sz="1200" dirty="0"/>
          </a:p>
          <a:p>
            <a:pPr marL="177800" indent="-1778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: ratio hors norme, import manquant, taux non saisi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5778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est historise par construction : ce qui manque est de l'usage, pas de la donnee.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023360"/>
            <a:ext cx="4023360" cy="4023360"/>
          </a:xfrm>
          <a:prstGeom prst="ellipse">
            <a:avLst/>
          </a:prstGeom>
          <a:solidFill>
            <a:srgbClr val="1B5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-1005840"/>
            <a:ext cx="2377440" cy="2377440"/>
          </a:xfrm>
          <a:prstGeom prst="ellipse">
            <a:avLst/>
          </a:prstGeom>
          <a:solidFill>
            <a:srgbClr val="00AE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828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la plateforme garantit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06040"/>
            <a:ext cx="8046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D4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chiffre affiche peut toujours etre decompose jusqu'a ses lignes de source.</a:t>
            </a:r>
            <a:endParaRPr lang="en-US" sz="1500" dirty="0"/>
          </a:p>
          <a:p>
            <a:pPr marL="177800" indent="-177800">
              <a:lnSpc>
                <a:spcPts val="19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D4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exporte est ce qui est affiche — meme moteur, meme arrete.</a:t>
            </a:r>
            <a:endParaRPr lang="en-US" sz="1500" dirty="0"/>
          </a:p>
          <a:p>
            <a:pPr marL="177800" indent="-177800">
              <a:lnSpc>
                <a:spcPts val="19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D4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n'est pas calculable est declare tel, avec son motif. Jamais ramene a zero.</a:t>
            </a:r>
            <a:endParaRPr lang="en-US" sz="1500" dirty="0"/>
          </a:p>
          <a:p>
            <a:pPr marL="177800" indent="-177800">
              <a:lnSpc>
                <a:spcPts val="19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D4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manque est nomme, et l'ecran dit ou le corriger.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349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Je reve, je realise »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PopPilot — Plateforme de pilotage MICROPOP</dc:title>
  <dc:subject>PptxGenJS Presentation</dc:subject>
  <dc:creator>MICROPOP — Controle de gestion</dc:creator>
  <cp:lastModifiedBy>MICROPOP — Controle de gestion</cp:lastModifiedBy>
  <cp:revision>1</cp:revision>
  <dcterms:created xsi:type="dcterms:W3CDTF">2026-09-21T19:16:43Z</dcterms:created>
  <dcterms:modified xsi:type="dcterms:W3CDTF">2026-09-21T19:16:43Z</dcterms:modified>
</cp:coreProperties>
</file>